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86D01-7CE0-1595-F6F3-4CA40F653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63B198-FE98-3BEA-6685-2A0EC7F22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9BAE6-570F-A91D-FA4C-4C23351FC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B45AB-3167-4916-BFFE-BC83C2EC8F74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D87F5-869F-7C33-979C-459C7DE38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DFE92-8191-F13F-EE3A-D6A9B7D2B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0A41-0338-40C7-9EFE-E0DFA63867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1848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44FC4-3FDC-7D59-A145-710782E7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69D5F-3CE2-43D7-0022-CC5FF4235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BC679-0C21-3425-30DC-5739BCC26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B45AB-3167-4916-BFFE-BC83C2EC8F74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5A975-B5B4-1D97-2D86-F78C85059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24189-1804-97E4-2A1A-2F4667319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0A41-0338-40C7-9EFE-E0DFA63867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685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4B559-DA75-9DD6-6E7B-60381F56C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EEFB4-486C-E205-2A51-D218B60C9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F825E-3DAE-D53D-6AD9-2BFC43952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B45AB-3167-4916-BFFE-BC83C2EC8F74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D18B9-ABF7-88EE-776F-D03EEED64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07B93-96A8-FF38-61FA-4E46A2DF0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0A41-0338-40C7-9EFE-E0DFA63867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571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655A8-38E5-201F-199B-2CF07F7DC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0BC8B-A300-45F2-83A1-DE94FB7FC5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445FD-D740-4DDA-0FF6-700EBE0D4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3F7F3-4513-E81D-9A1F-BD3337098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B45AB-3167-4916-BFFE-BC83C2EC8F74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4E8A83-5894-CF07-A1A7-41AD3724E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64AA8-2C83-C9BF-1475-36CDC285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0A41-0338-40C7-9EFE-E0DFA63867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6344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E12E7-E822-5256-DFAF-E6CC64119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F36E3-1047-AC39-8785-3DB08A75B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8CA636-70AB-6132-BD7A-76A375C31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B4CE91-ACBB-7BD7-D21B-4165EDBDB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FEC5C4-365B-3101-07AE-7B9E5BAAEC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385138-519F-5383-70AB-B7F989C59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B45AB-3167-4916-BFFE-BC83C2EC8F74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09E8B4-2CE7-611B-A4FA-51F6D8756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0E114-C1EE-77C7-DD56-ED7B51CD5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0A41-0338-40C7-9EFE-E0DFA63867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156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2ECCA-5075-FA71-C497-035512AE9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9B3204-50DC-2927-E950-DA162E63D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B45AB-3167-4916-BFFE-BC83C2EC8F74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B71C8E-A75D-EEF2-2645-B58C7682F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0C6E6E-B3D3-DB8A-5DA5-84646FA84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0A41-0338-40C7-9EFE-E0DFA63867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0578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F31FA2-03CC-1451-7B6A-380A40664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B45AB-3167-4916-BFFE-BC83C2EC8F74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BDEC0D-19BA-4A96-73EB-BE446CC45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2A5DE-CE9B-C1C1-04B7-1A298BEB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0A41-0338-40C7-9EFE-E0DFA63867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345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210FE-3D61-1CE7-FB31-066EEBF8A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BE6F9-3902-CC1B-D5D0-6F39114C7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0B54B5-F469-9F23-BCE0-C53A4E667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C60E10-1320-F66A-C8C9-F60B61FD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B45AB-3167-4916-BFFE-BC83C2EC8F74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D780D-4619-E42F-F61A-359AD7A0A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3B2C22-3A30-32AD-4239-0BAB5E368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0A41-0338-40C7-9EFE-E0DFA63867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3111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FA402-63A6-E822-3E20-1539AE71B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6F2BC-4EAF-07E0-3479-CEEB69606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CCE49-84F5-206F-6E40-7DDB76334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65D55-2E82-BE8D-BAB1-7DEEB32B9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B45AB-3167-4916-BFFE-BC83C2EC8F74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2895C-9263-F6F3-3369-B464E8D48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9DD50-EF97-F81A-32D7-0F8C7A12C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0A41-0338-40C7-9EFE-E0DFA63867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322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8ED49-1062-3FF9-4042-61528F95F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F00D1B-EC57-73FC-0F25-FE904CD97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1B388-9393-3CA4-395E-82908DC54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B45AB-3167-4916-BFFE-BC83C2EC8F74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2B179-3716-228B-423F-127B887D0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886B9-F1AA-764D-2E8E-D35C325E5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0A41-0338-40C7-9EFE-E0DFA63867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5799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61A471-CB44-64E8-0450-7D7756DA0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AD46E-8FAA-D1C0-7A1C-B34DB42A5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3E460-C091-89E1-F869-3B7525DB4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B45AB-3167-4916-BFFE-BC83C2EC8F74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ECC7A-E2C8-16D8-E374-B7BC526EE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FA1FA-BD2D-F903-7A7E-6C68394E9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E0A41-0338-40C7-9EFE-E0DFA63867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9278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127388-36A1-509F-91B0-4E47F041E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45556-0105-4685-B38D-39758291B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E67D6-0005-75F4-6582-107631668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CB45AB-3167-4916-BFFE-BC83C2EC8F74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E253D-C05B-A1FB-E8A2-1353AFB39B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F7488-3AD2-DD5E-D81B-83950DB8D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2E0A41-0338-40C7-9EFE-E0DFA63867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291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BCB2EA-7E8D-402E-32A1-902009F65463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E2B5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C28961-600B-1558-DF20-07D9AA0E8592}"/>
              </a:ext>
            </a:extLst>
          </p:cNvPr>
          <p:cNvSpPr/>
          <p:nvPr/>
        </p:nvSpPr>
        <p:spPr>
          <a:xfrm>
            <a:off x="304800" y="215900"/>
            <a:ext cx="330200" cy="330200"/>
          </a:xfrm>
          <a:prstGeom prst="rect">
            <a:avLst/>
          </a:prstGeom>
          <a:solidFill>
            <a:srgbClr val="00B1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D15C2C-8B0A-AE29-B5B0-11EAA08D7AA3}"/>
              </a:ext>
            </a:extLst>
          </p:cNvPr>
          <p:cNvSpPr txBox="1"/>
          <p:nvPr/>
        </p:nvSpPr>
        <p:spPr>
          <a:xfrm>
            <a:off x="787400" y="127000"/>
            <a:ext cx="889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>
                <a:solidFill>
                  <a:srgbClr val="F5F8FC"/>
                </a:solidFill>
                <a:latin typeface="Segoe UI Semibold" panose="020B0702040204020203" pitchFamily="34" charset="0"/>
              </a:rPr>
              <a:t>Projekt ja eesmärk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C13805-4A4E-649D-528D-FE37BA12697B}"/>
              </a:ext>
            </a:extLst>
          </p:cNvPr>
          <p:cNvSpPr txBox="1"/>
          <p:nvPr/>
        </p:nvSpPr>
        <p:spPr>
          <a:xfrm>
            <a:off x="304800" y="6502400"/>
            <a:ext cx="1158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1100">
                <a:solidFill>
                  <a:srgbClr val="F5F8FC"/>
                </a:solidFill>
                <a:latin typeface="Segoe UI" panose="020B0502040204020203" pitchFamily="34" charset="0"/>
              </a:rPr>
              <a:t>Jupiter demo (10 min)   |   Slaid 1/10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01CD04-D4C3-5A7C-BC77-B0CA218C28AE}"/>
              </a:ext>
            </a:extLst>
          </p:cNvPr>
          <p:cNvSpPr txBox="1"/>
          <p:nvPr/>
        </p:nvSpPr>
        <p:spPr>
          <a:xfrm>
            <a:off x="812800" y="1168400"/>
            <a:ext cx="10566400" cy="143116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Projekt: Jupiteri andmeanalüüsi toru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Eesmärk 1: võrrelda kataloogi/esitatud/vaadatud sisu struktuuri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Eesmärk 2: hinnata esiletõstmise ja vaadatavuse seost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75C8E28-1D5A-F5EE-A1DA-DFB57E19E72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0" y="101600"/>
            <a:ext cx="22860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074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0773B0-3F8A-7D75-9970-BAC62647EB92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E2B5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E2EEB7-F95F-ABC1-616E-9E64BFE621CB}"/>
              </a:ext>
            </a:extLst>
          </p:cNvPr>
          <p:cNvSpPr/>
          <p:nvPr/>
        </p:nvSpPr>
        <p:spPr>
          <a:xfrm>
            <a:off x="304800" y="215900"/>
            <a:ext cx="330200" cy="330200"/>
          </a:xfrm>
          <a:prstGeom prst="rect">
            <a:avLst/>
          </a:prstGeom>
          <a:solidFill>
            <a:srgbClr val="00B1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20ED71-64F3-CCBB-A213-BED1EAA530BA}"/>
              </a:ext>
            </a:extLst>
          </p:cNvPr>
          <p:cNvSpPr txBox="1"/>
          <p:nvPr/>
        </p:nvSpPr>
        <p:spPr>
          <a:xfrm>
            <a:off x="787400" y="127000"/>
            <a:ext cx="889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>
                <a:solidFill>
                  <a:srgbClr val="F5F8FC"/>
                </a:solidFill>
                <a:latin typeface="Segoe UI Semibold" panose="020B0702040204020203" pitchFamily="34" charset="0"/>
              </a:rPr>
              <a:t>Kohustuslikud nõuded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6B0625-14D1-2E98-865B-5871BE090C25}"/>
              </a:ext>
            </a:extLst>
          </p:cNvPr>
          <p:cNvSpPr txBox="1"/>
          <p:nvPr/>
        </p:nvSpPr>
        <p:spPr>
          <a:xfrm>
            <a:off x="304800" y="6502400"/>
            <a:ext cx="1158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1100">
                <a:solidFill>
                  <a:srgbClr val="F5F8FC"/>
                </a:solidFill>
                <a:latin typeface="Segoe UI" panose="020B0502040204020203" pitchFamily="34" charset="0"/>
              </a:rPr>
              <a:t>Jupiter demo (10 min)   |   Slaid 2/10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7F8AB0-AF99-4D90-0DB2-AFEE73447DB7}"/>
              </a:ext>
            </a:extLst>
          </p:cNvPr>
          <p:cNvSpPr txBox="1"/>
          <p:nvPr/>
        </p:nvSpPr>
        <p:spPr>
          <a:xfrm>
            <a:off x="812800" y="1168400"/>
            <a:ext cx="10566400" cy="288540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Mitmest allikast ingest (API + CSV + metadata CSV)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Automatiseeritud workflow (run-all, scheduler)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SQL transform staging -&gt; mart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Andmekvaliteedi kontrollid (quality, check)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Näidikulaud (Superset)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Reprodutseeritav käivitus (Docker + README)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976E550-BA4B-0BCF-1E25-D990DB498AE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0" y="101600"/>
            <a:ext cx="22860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275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6C13B9-6E0F-E69F-3A30-B16DE8B73516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E2B5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310F89-8511-7116-708D-8B3811AAE259}"/>
              </a:ext>
            </a:extLst>
          </p:cNvPr>
          <p:cNvSpPr/>
          <p:nvPr/>
        </p:nvSpPr>
        <p:spPr>
          <a:xfrm>
            <a:off x="304800" y="215900"/>
            <a:ext cx="330200" cy="330200"/>
          </a:xfrm>
          <a:prstGeom prst="rect">
            <a:avLst/>
          </a:prstGeom>
          <a:solidFill>
            <a:srgbClr val="00B1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E0FADE-0B62-B172-0719-82C6DF8506FF}"/>
              </a:ext>
            </a:extLst>
          </p:cNvPr>
          <p:cNvSpPr txBox="1"/>
          <p:nvPr/>
        </p:nvSpPr>
        <p:spPr>
          <a:xfrm>
            <a:off x="787400" y="127000"/>
            <a:ext cx="889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>
                <a:solidFill>
                  <a:srgbClr val="F5F8FC"/>
                </a:solidFill>
                <a:latin typeface="Segoe UI Semibold" panose="020B0702040204020203" pitchFamily="34" charset="0"/>
              </a:rPr>
              <a:t>Arhitektuur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FEA1C3-2877-F901-32EC-EAC26A288FFC}"/>
              </a:ext>
            </a:extLst>
          </p:cNvPr>
          <p:cNvSpPr txBox="1"/>
          <p:nvPr/>
        </p:nvSpPr>
        <p:spPr>
          <a:xfrm>
            <a:off x="304800" y="6502400"/>
            <a:ext cx="1158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1100">
                <a:solidFill>
                  <a:srgbClr val="F5F8FC"/>
                </a:solidFill>
                <a:latin typeface="Segoe UI" panose="020B0502040204020203" pitchFamily="34" charset="0"/>
              </a:rPr>
              <a:t>Jupiter demo (10 min)   |   Slaid 3/10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C4B2D6-E6DA-AFFA-4B13-89145DC7D153}"/>
              </a:ext>
            </a:extLst>
          </p:cNvPr>
          <p:cNvSpPr txBox="1"/>
          <p:nvPr/>
        </p:nvSpPr>
        <p:spPr>
          <a:xfrm>
            <a:off x="812800" y="1168400"/>
            <a:ext cx="10566400" cy="16696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000">
                <a:solidFill>
                  <a:srgbClr val="F5F8FC"/>
                </a:solidFill>
                <a:latin typeface="Segoe UI" panose="020B0502040204020203" pitchFamily="34" charset="0"/>
              </a:rPr>
              <a:t>Allikad: ERR API, viewers CSV, metadata CSV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000">
                <a:solidFill>
                  <a:srgbClr val="F5F8FC"/>
                </a:solidFill>
                <a:latin typeface="Segoe UI" panose="020B0502040204020203" pitchFamily="34" charset="0"/>
              </a:rPr>
              <a:t>Kihid: staging, mart, quality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000">
                <a:solidFill>
                  <a:srgbClr val="F5F8FC"/>
                </a:solidFill>
                <a:latin typeface="Segoe UI" panose="020B0502040204020203" pitchFamily="34" charset="0"/>
              </a:rPr>
              <a:t>Väljund: Superset dashboard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000">
                <a:solidFill>
                  <a:srgbClr val="F5F8FC"/>
                </a:solidFill>
                <a:latin typeface="Segoe UI" panose="020B0502040204020203" pitchFamily="34" charset="0"/>
              </a:rPr>
              <a:t>Andmevoog: ingest -&gt; transform -&gt; quality/check -&gt; visualiseerimine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075A9B4-DE4A-9AE9-911F-E4551F221AD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0" y="101600"/>
            <a:ext cx="2286000" cy="533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5A5973F-411C-2A9D-459B-992A03934C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" y="2854527"/>
            <a:ext cx="6950192" cy="3909483"/>
          </a:xfrm>
          <a:prstGeom prst="rect">
            <a:avLst/>
          </a:prstGeom>
          <a:ln w="14605">
            <a:solidFill>
              <a:srgbClr val="E0B100"/>
            </a:solidFill>
          </a:ln>
        </p:spPr>
      </p:pic>
    </p:spTree>
    <p:extLst>
      <p:ext uri="{BB962C8B-B14F-4D97-AF65-F5344CB8AC3E}">
        <p14:creationId xmlns:p14="http://schemas.microsoft.com/office/powerpoint/2010/main" val="3746068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01AA6D-1342-55AB-9A3B-A5E225A929F7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E2B5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AC793C-38CA-3A00-ACCA-BF43D6E7D90F}"/>
              </a:ext>
            </a:extLst>
          </p:cNvPr>
          <p:cNvSpPr/>
          <p:nvPr/>
        </p:nvSpPr>
        <p:spPr>
          <a:xfrm>
            <a:off x="304800" y="215900"/>
            <a:ext cx="330200" cy="330200"/>
          </a:xfrm>
          <a:prstGeom prst="rect">
            <a:avLst/>
          </a:prstGeom>
          <a:solidFill>
            <a:srgbClr val="00B1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9A5EF0-B092-1BE1-955B-83A5EAB78427}"/>
              </a:ext>
            </a:extLst>
          </p:cNvPr>
          <p:cNvSpPr txBox="1"/>
          <p:nvPr/>
        </p:nvSpPr>
        <p:spPr>
          <a:xfrm>
            <a:off x="787400" y="127000"/>
            <a:ext cx="889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>
                <a:solidFill>
                  <a:srgbClr val="F5F8FC"/>
                </a:solidFill>
                <a:latin typeface="Segoe UI Semibold" panose="020B0702040204020203" pitchFamily="34" charset="0"/>
              </a:rPr>
              <a:t>Andmevoog sammudena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40BC79-CF9A-CE8C-835F-86D0CEB074F8}"/>
              </a:ext>
            </a:extLst>
          </p:cNvPr>
          <p:cNvSpPr txBox="1"/>
          <p:nvPr/>
        </p:nvSpPr>
        <p:spPr>
          <a:xfrm>
            <a:off x="304800" y="6502400"/>
            <a:ext cx="1158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1100">
                <a:solidFill>
                  <a:srgbClr val="F5F8FC"/>
                </a:solidFill>
                <a:latin typeface="Segoe UI" panose="020B0502040204020203" pitchFamily="34" charset="0"/>
              </a:rPr>
              <a:t>Jupiter demo (10 min)   |   Slaid 4/10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4C2CB2-FB3E-9463-5058-8F1839D16522}"/>
              </a:ext>
            </a:extLst>
          </p:cNvPr>
          <p:cNvSpPr txBox="1"/>
          <p:nvPr/>
        </p:nvSpPr>
        <p:spPr>
          <a:xfrm>
            <a:off x="812800" y="1168400"/>
            <a:ext cx="10566400" cy="240065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1) ingest (ingest-all)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2) transform (01_transform.sql)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3) quality (quality.run_checks)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4) read-only kontroll (check)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5) visualiseerimine Supersetis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F543028-4656-B55C-D1BC-5BE60796BE4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0" y="101600"/>
            <a:ext cx="22860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707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1717DC-6ACB-C89E-4F1C-AB6BAF88E49B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E2B5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B128CB-D2C0-1647-C108-90C7EBD6770B}"/>
              </a:ext>
            </a:extLst>
          </p:cNvPr>
          <p:cNvSpPr/>
          <p:nvPr/>
        </p:nvSpPr>
        <p:spPr>
          <a:xfrm>
            <a:off x="304800" y="215900"/>
            <a:ext cx="330200" cy="330200"/>
          </a:xfrm>
          <a:prstGeom prst="rect">
            <a:avLst/>
          </a:prstGeom>
          <a:solidFill>
            <a:srgbClr val="00B1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1372B6-6E8B-E604-4D52-7CA61C57E5EB}"/>
              </a:ext>
            </a:extLst>
          </p:cNvPr>
          <p:cNvSpPr txBox="1"/>
          <p:nvPr/>
        </p:nvSpPr>
        <p:spPr>
          <a:xfrm>
            <a:off x="787400" y="127000"/>
            <a:ext cx="889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>
                <a:solidFill>
                  <a:srgbClr val="F5F8FC"/>
                </a:solidFill>
                <a:latin typeface="Segoe UI Semibold" panose="020B0702040204020203" pitchFamily="34" charset="0"/>
              </a:rPr>
              <a:t>Andmekvaliteet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28AE38-C9D7-A0A3-DBE8-58282E3C0AC2}"/>
              </a:ext>
            </a:extLst>
          </p:cNvPr>
          <p:cNvSpPr txBox="1"/>
          <p:nvPr/>
        </p:nvSpPr>
        <p:spPr>
          <a:xfrm>
            <a:off x="304800" y="6502400"/>
            <a:ext cx="1158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1100">
                <a:solidFill>
                  <a:srgbClr val="F5F8FC"/>
                </a:solidFill>
                <a:latin typeface="Segoe UI" panose="020B0502040204020203" pitchFamily="34" charset="0"/>
              </a:rPr>
              <a:t>Jupiter demo (10 min)   |   Slaid 5/10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598565-D5CB-8119-6125-D80D24498CB5}"/>
              </a:ext>
            </a:extLst>
          </p:cNvPr>
          <p:cNvSpPr txBox="1"/>
          <p:nvPr/>
        </p:nvSpPr>
        <p:spPr>
          <a:xfrm>
            <a:off x="812800" y="1168400"/>
            <a:ext cx="10566400" cy="19159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Tühjad pealkirjad / negatiivsed väärtused / kuupäeva loogika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viewers_match_pct läved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pair_count kontroll korrelatsioonile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SUM(pct) kontroll struktuurigraafikule (~100%)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BFFDC61-9A40-F085-ED63-01AE625E80E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0" y="101600"/>
            <a:ext cx="22860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775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DFF456-2507-F01C-2912-6EA595DE57C0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E2B5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691975-38EF-71DD-6DFC-C075DF7F597B}"/>
              </a:ext>
            </a:extLst>
          </p:cNvPr>
          <p:cNvSpPr/>
          <p:nvPr/>
        </p:nvSpPr>
        <p:spPr>
          <a:xfrm>
            <a:off x="304800" y="215900"/>
            <a:ext cx="330200" cy="330200"/>
          </a:xfrm>
          <a:prstGeom prst="rect">
            <a:avLst/>
          </a:prstGeom>
          <a:solidFill>
            <a:srgbClr val="00B1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D05EE0-F2F0-E723-E349-EBC87286EDB8}"/>
              </a:ext>
            </a:extLst>
          </p:cNvPr>
          <p:cNvSpPr txBox="1"/>
          <p:nvPr/>
        </p:nvSpPr>
        <p:spPr>
          <a:xfrm>
            <a:off x="787400" y="127000"/>
            <a:ext cx="889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>
                <a:solidFill>
                  <a:srgbClr val="F5F8FC"/>
                </a:solidFill>
                <a:latin typeface="Segoe UI Semibold" panose="020B0702040204020203" pitchFamily="34" charset="0"/>
              </a:rPr>
              <a:t>SQL väljundid (äriküsimus 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E19663-2387-96C9-9B5A-84A1D2EF2D44}"/>
              </a:ext>
            </a:extLst>
          </p:cNvPr>
          <p:cNvSpPr txBox="1"/>
          <p:nvPr/>
        </p:nvSpPr>
        <p:spPr>
          <a:xfrm>
            <a:off x="304800" y="6502400"/>
            <a:ext cx="1158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1100">
                <a:solidFill>
                  <a:srgbClr val="F5F8FC"/>
                </a:solidFill>
                <a:latin typeface="Segoe UI" panose="020B0502040204020203" pitchFamily="34" charset="0"/>
              </a:rPr>
              <a:t>Jupiter demo (10 min)   |   Slaid 6/10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123FF1-8EAD-5575-B26B-050B1D38585F}"/>
              </a:ext>
            </a:extLst>
          </p:cNvPr>
          <p:cNvSpPr txBox="1"/>
          <p:nvPr/>
        </p:nvSpPr>
        <p:spPr>
          <a:xfrm>
            <a:off x="812800" y="1168400"/>
            <a:ext cx="10566400" cy="143116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mart.content_structure_period_pct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Kataloog vs esitatud vs vaadatud struktuur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Päritolumaa + sisutüüp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45A8D70-CCDD-C449-5F73-A4F20699CF8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0" y="101600"/>
            <a:ext cx="22860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168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333A0F-E455-C762-2A2D-EFE0DD1BE913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E2B5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FAC76C-11D5-0D1B-4313-8580B146525D}"/>
              </a:ext>
            </a:extLst>
          </p:cNvPr>
          <p:cNvSpPr/>
          <p:nvPr/>
        </p:nvSpPr>
        <p:spPr>
          <a:xfrm>
            <a:off x="304800" y="215900"/>
            <a:ext cx="330200" cy="330200"/>
          </a:xfrm>
          <a:prstGeom prst="rect">
            <a:avLst/>
          </a:prstGeom>
          <a:solidFill>
            <a:srgbClr val="00B1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75D762-939D-E12D-F4D1-8BD7D63F0FA0}"/>
              </a:ext>
            </a:extLst>
          </p:cNvPr>
          <p:cNvSpPr txBox="1"/>
          <p:nvPr/>
        </p:nvSpPr>
        <p:spPr>
          <a:xfrm>
            <a:off x="787400" y="127000"/>
            <a:ext cx="889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>
                <a:solidFill>
                  <a:srgbClr val="F5F8FC"/>
                </a:solidFill>
                <a:latin typeface="Segoe UI Semibold" panose="020B0702040204020203" pitchFamily="34" charset="0"/>
              </a:rPr>
              <a:t>SQL väljundid (äriküsimus 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90DCA7-062C-B2DD-DF8C-042C965780DF}"/>
              </a:ext>
            </a:extLst>
          </p:cNvPr>
          <p:cNvSpPr txBox="1"/>
          <p:nvPr/>
        </p:nvSpPr>
        <p:spPr>
          <a:xfrm>
            <a:off x="304800" y="6502400"/>
            <a:ext cx="1158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1100">
                <a:solidFill>
                  <a:srgbClr val="F5F8FC"/>
                </a:solidFill>
                <a:latin typeface="Segoe UI" panose="020B0502040204020203" pitchFamily="34" charset="0"/>
              </a:rPr>
              <a:t>Jupiter demo (10 min)   |   Slaid 7/10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FF3BB9-AA01-A43F-3D89-F18CADD588CF}"/>
              </a:ext>
            </a:extLst>
          </p:cNvPr>
          <p:cNvSpPr txBox="1"/>
          <p:nvPr/>
        </p:nvSpPr>
        <p:spPr>
          <a:xfrm>
            <a:off x="812800" y="1168400"/>
            <a:ext cx="10566400" cy="143116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mart.v_superset_featured_correlation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pair_count + corr_prominence_views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mart.title_match_daily (viewers_match_pct)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549917F-09C8-912E-2591-8843BEE5C9E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0" y="101600"/>
            <a:ext cx="22860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44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D7793F-4FAE-FAC6-9F53-EF8E8BBB8704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E2B5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BC53D0-3A4C-09C7-9C82-E03E1746E114}"/>
              </a:ext>
            </a:extLst>
          </p:cNvPr>
          <p:cNvSpPr/>
          <p:nvPr/>
        </p:nvSpPr>
        <p:spPr>
          <a:xfrm>
            <a:off x="304800" y="215900"/>
            <a:ext cx="330200" cy="330200"/>
          </a:xfrm>
          <a:prstGeom prst="rect">
            <a:avLst/>
          </a:prstGeom>
          <a:solidFill>
            <a:srgbClr val="00B1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E871FC-1444-409C-22E7-1580A254ADE4}"/>
              </a:ext>
            </a:extLst>
          </p:cNvPr>
          <p:cNvSpPr txBox="1"/>
          <p:nvPr/>
        </p:nvSpPr>
        <p:spPr>
          <a:xfrm>
            <a:off x="787400" y="127000"/>
            <a:ext cx="889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>
                <a:solidFill>
                  <a:srgbClr val="F5F8FC"/>
                </a:solidFill>
                <a:latin typeface="Segoe UI Semibold" panose="020B0702040204020203" pitchFamily="34" charset="0"/>
              </a:rPr>
              <a:t>Dashboard (Superset)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2E2099-D22C-DA2E-03C0-F718E004C145}"/>
              </a:ext>
            </a:extLst>
          </p:cNvPr>
          <p:cNvSpPr txBox="1"/>
          <p:nvPr/>
        </p:nvSpPr>
        <p:spPr>
          <a:xfrm>
            <a:off x="304800" y="6502400"/>
            <a:ext cx="1158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1100">
                <a:solidFill>
                  <a:srgbClr val="F5F8FC"/>
                </a:solidFill>
                <a:latin typeface="Segoe UI" panose="020B0502040204020203" pitchFamily="34" charset="0"/>
              </a:rPr>
              <a:t>Jupiter demo (10 min)   |   Slaid 8/10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4C4650-6252-A519-6234-21CF4F7579D9}"/>
              </a:ext>
            </a:extLst>
          </p:cNvPr>
          <p:cNvSpPr txBox="1"/>
          <p:nvPr/>
        </p:nvSpPr>
        <p:spPr>
          <a:xfrm>
            <a:off x="812800" y="1168400"/>
            <a:ext cx="10566400" cy="12464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000">
                <a:solidFill>
                  <a:srgbClr val="F5F8FC"/>
                </a:solidFill>
                <a:latin typeface="Segoe UI" panose="020B0502040204020203" pitchFamily="34" charset="0"/>
              </a:rPr>
              <a:t>Graafikud: Päritolumaad, Sisutüübid, Esiletõstmine ja vaadatavus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000">
                <a:solidFill>
                  <a:srgbClr val="F5F8FC"/>
                </a:solidFill>
                <a:latin typeface="Segoe UI" panose="020B0502040204020203" pitchFamily="34" charset="0"/>
              </a:rPr>
              <a:t>TOP esiletõstetud ja Korrelatsioon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000">
                <a:solidFill>
                  <a:srgbClr val="F5F8FC"/>
                </a:solidFill>
                <a:latin typeface="Segoe UI" panose="020B0502040204020203" pitchFamily="34" charset="0"/>
              </a:rPr>
              <a:t>Filtrid: grain, period_start_key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82BBC6-3B4C-FA5D-C05E-BD3481435C2B}"/>
              </a:ext>
            </a:extLst>
          </p:cNvPr>
          <p:cNvSpPr/>
          <p:nvPr/>
        </p:nvSpPr>
        <p:spPr>
          <a:xfrm>
            <a:off x="812800" y="4064000"/>
            <a:ext cx="10566400" cy="2159000"/>
          </a:xfrm>
          <a:prstGeom prst="rect">
            <a:avLst/>
          </a:prstGeom>
          <a:solidFill>
            <a:srgbClr val="54311A">
              <a:alpha val="88000"/>
            </a:srgbClr>
          </a:solidFill>
          <a:ln>
            <a:solidFill>
              <a:srgbClr val="00B1E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257C8F5-3A74-F8A5-777C-FA960105718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0" y="101600"/>
            <a:ext cx="2286000" cy="533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C6F6BF-C545-D8D5-3070-512C120AE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706" y="2054212"/>
            <a:ext cx="10620588" cy="5035576"/>
          </a:xfrm>
          <a:prstGeom prst="rect">
            <a:avLst/>
          </a:prstGeom>
          <a:ln w="14605">
            <a:solidFill>
              <a:srgbClr val="E0B100"/>
            </a:solidFill>
          </a:ln>
        </p:spPr>
      </p:pic>
    </p:spTree>
    <p:extLst>
      <p:ext uri="{BB962C8B-B14F-4D97-AF65-F5344CB8AC3E}">
        <p14:creationId xmlns:p14="http://schemas.microsoft.com/office/powerpoint/2010/main" val="1017668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BED831-F587-79E7-96B3-73984EC7E7EB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E2B5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0B25BE-F2B6-F522-4AE4-5AAD36E7D0D2}"/>
              </a:ext>
            </a:extLst>
          </p:cNvPr>
          <p:cNvSpPr/>
          <p:nvPr/>
        </p:nvSpPr>
        <p:spPr>
          <a:xfrm>
            <a:off x="304800" y="215900"/>
            <a:ext cx="330200" cy="330200"/>
          </a:xfrm>
          <a:prstGeom prst="rect">
            <a:avLst/>
          </a:prstGeom>
          <a:solidFill>
            <a:srgbClr val="00B1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086FB0-8225-3E9F-FFD6-AF063C1E7BAB}"/>
              </a:ext>
            </a:extLst>
          </p:cNvPr>
          <p:cNvSpPr txBox="1"/>
          <p:nvPr/>
        </p:nvSpPr>
        <p:spPr>
          <a:xfrm>
            <a:off x="787400" y="127000"/>
            <a:ext cx="889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>
                <a:solidFill>
                  <a:srgbClr val="F5F8FC"/>
                </a:solidFill>
                <a:latin typeface="Segoe UI Semibold" panose="020B0702040204020203" pitchFamily="34" charset="0"/>
              </a:rPr>
              <a:t>Demo kokkuvõte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B3C8BA-1C0D-C4FB-2334-C5FEC27EAB7E}"/>
              </a:ext>
            </a:extLst>
          </p:cNvPr>
          <p:cNvSpPr txBox="1"/>
          <p:nvPr/>
        </p:nvSpPr>
        <p:spPr>
          <a:xfrm>
            <a:off x="304800" y="6502400"/>
            <a:ext cx="1158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1100">
                <a:solidFill>
                  <a:srgbClr val="F5F8FC"/>
                </a:solidFill>
                <a:latin typeface="Segoe UI" panose="020B0502040204020203" pitchFamily="34" charset="0"/>
              </a:rPr>
              <a:t>Jupiter demo (10 min)   |   Slaid 9/10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E24C9A-3C6E-D95D-09D5-68BD95C49423}"/>
              </a:ext>
            </a:extLst>
          </p:cNvPr>
          <p:cNvSpPr txBox="1"/>
          <p:nvPr/>
        </p:nvSpPr>
        <p:spPr>
          <a:xfrm>
            <a:off x="812800" y="1168400"/>
            <a:ext cx="10566400" cy="19159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Workflow käivitus edukalt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SQL arvutused andsid ootuspärase tulemuse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Dashboard peegeldab mart vaateid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Nõuded täidetud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711481F-76C5-784F-C76A-50152F1034D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0" y="101600"/>
            <a:ext cx="22860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538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820659-19CA-1AA7-422C-58EE946C6EAB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E2B54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6EAD1E-D50F-3171-DB92-89A8E75149F8}"/>
              </a:ext>
            </a:extLst>
          </p:cNvPr>
          <p:cNvSpPr/>
          <p:nvPr/>
        </p:nvSpPr>
        <p:spPr>
          <a:xfrm>
            <a:off x="304800" y="215900"/>
            <a:ext cx="330200" cy="330200"/>
          </a:xfrm>
          <a:prstGeom prst="rect">
            <a:avLst/>
          </a:prstGeom>
          <a:solidFill>
            <a:srgbClr val="00B1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8D4098-FB9D-59F0-A3DF-8FE5D55BEC19}"/>
              </a:ext>
            </a:extLst>
          </p:cNvPr>
          <p:cNvSpPr txBox="1"/>
          <p:nvPr/>
        </p:nvSpPr>
        <p:spPr>
          <a:xfrm>
            <a:off x="787400" y="127000"/>
            <a:ext cx="8890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>
                <a:solidFill>
                  <a:srgbClr val="F5F8FC"/>
                </a:solidFill>
                <a:latin typeface="Segoe UI Semibold" panose="020B0702040204020203" pitchFamily="34" charset="0"/>
              </a:rPr>
              <a:t>Piirangud ja järgmised sammud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F1E52F-4020-1A7C-6862-54AD7AF02E40}"/>
              </a:ext>
            </a:extLst>
          </p:cNvPr>
          <p:cNvSpPr txBox="1"/>
          <p:nvPr/>
        </p:nvSpPr>
        <p:spPr>
          <a:xfrm>
            <a:off x="304800" y="6502400"/>
            <a:ext cx="1158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1100">
                <a:solidFill>
                  <a:srgbClr val="F5F8FC"/>
                </a:solidFill>
                <a:latin typeface="Segoe UI" panose="020B0502040204020203" pitchFamily="34" charset="0"/>
              </a:rPr>
              <a:t>Jupiter demo (10 min)   |   Slaid 10/10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B74B0F-4E8B-307E-536B-EC12C7478C75}"/>
              </a:ext>
            </a:extLst>
          </p:cNvPr>
          <p:cNvSpPr txBox="1"/>
          <p:nvPr/>
        </p:nvSpPr>
        <p:spPr>
          <a:xfrm>
            <a:off x="812800" y="1168400"/>
            <a:ext cx="10566400" cy="143116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Pealkirja-põhine matching (mitte fuzzy)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Metadata katvus mõjutab segmente</a:t>
            </a:r>
          </a:p>
          <a:p>
            <a:pPr marL="457200" indent="-457200">
              <a:spcAft>
                <a:spcPts val="900"/>
              </a:spcAft>
              <a:buFont typeface="+mj-lt"/>
              <a:buAutoNum type="arabicPeriod"/>
            </a:pPr>
            <a:r>
              <a:rPr lang="en-GB" sz="2400">
                <a:solidFill>
                  <a:srgbClr val="F5F8FC"/>
                </a:solidFill>
                <a:latin typeface="Segoe UI" panose="020B0502040204020203" pitchFamily="34" charset="0"/>
              </a:rPr>
              <a:t>Järgmine samm: parem title mapping / id-põhine sidumine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B24167D-5E75-C4FE-5E49-03CBF9A22A7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0" y="101600"/>
            <a:ext cx="22860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379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388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Tarvo Nõulik</dc:creator>
  <cp:lastModifiedBy>Tarvo Nõulik</cp:lastModifiedBy>
  <cp:revision>12</cp:revision>
  <dcterms:created xsi:type="dcterms:W3CDTF">2026-06-02T11:08:27Z</dcterms:created>
  <dcterms:modified xsi:type="dcterms:W3CDTF">2026-06-02T12:25:54Z</dcterms:modified>
</cp:coreProperties>
</file>